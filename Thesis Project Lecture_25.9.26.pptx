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64" r:id="rId4"/>
    <p:sldId id="263" r:id="rId5"/>
    <p:sldId id="274" r:id="rId6"/>
    <p:sldId id="269" r:id="rId7"/>
    <p:sldId id="259" r:id="rId8"/>
    <p:sldId id="261" r:id="rId9"/>
    <p:sldId id="258" r:id="rId10"/>
    <p:sldId id="260" r:id="rId11"/>
    <p:sldId id="265" r:id="rId12"/>
    <p:sldId id="266" r:id="rId13"/>
    <p:sldId id="267" r:id="rId14"/>
    <p:sldId id="268" r:id="rId15"/>
    <p:sldId id="271" r:id="rId16"/>
    <p:sldId id="270" r:id="rId17"/>
    <p:sldId id="286" r:id="rId18"/>
    <p:sldId id="272" r:id="rId19"/>
    <p:sldId id="276" r:id="rId20"/>
    <p:sldId id="277" r:id="rId21"/>
    <p:sldId id="290" r:id="rId22"/>
    <p:sldId id="282" r:id="rId23"/>
    <p:sldId id="278" r:id="rId24"/>
    <p:sldId id="281" r:id="rId25"/>
    <p:sldId id="287" r:id="rId26"/>
    <p:sldId id="283" r:id="rId27"/>
    <p:sldId id="284" r:id="rId28"/>
    <p:sldId id="288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A25E-7234-4E39-AF31-EF519B1A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BBFAA-73A0-41A2-8053-0131AFECC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A351D-D419-4C9C-8C97-0E56F281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F529F-415E-4DBF-87C7-096B9B6D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7A492-4819-47A9-917F-E0084296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82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4E3B-48C9-46AC-A552-BFE2EFA4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A2BC-6EB3-4CAE-9AE9-CB8423F4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6F52C-2A40-4887-8954-C8A70781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531CA-2389-40C5-AB07-A8AB7256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80F82-7042-4212-88B5-2F6CD69C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9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8107-A35F-4652-B4B4-3E84801D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2AA19-124E-49F7-87AA-B77B3E892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1C84E-6571-49B9-9407-8F434356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3E48F-5ABD-46AF-A633-CE9E4718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759D-4220-49D0-986D-04CB9995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24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837A3-25AD-4181-9CA3-2C5030E3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B8ED-0257-4107-99DD-FD015284A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351C6-629E-4ADC-B444-6B4C314E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F4CFD-801D-4609-8E82-5CB4EA29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B028A-2FA2-4054-A7D4-5222C835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A6EEB-D913-419B-953F-ABC7C73A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54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0DEA-C14E-418B-B56D-181E1AF2E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900C2-4197-4513-9678-C29C58F02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B0774-38C5-42EB-8ECD-E55CB1581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8CBDD-941C-4D80-AAD1-DAB9A1A94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0FA58-2FB2-46D2-801A-C139B188E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088849-7A59-4F13-8631-97C21EDD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7E9F6-2DEF-436D-A436-4D0C65D9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A5190-FC14-4F41-9160-4D514EE4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1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43A7-AA97-48F3-B0FD-585E7656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3C1E9-ECD4-4446-88BC-29C5021E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EB9EB-2DA4-4CA0-B6A8-3555CB6A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EB560-CD04-49C0-B788-372A4AC8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34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D06AA-0924-4ED0-A1F4-C7BC15D9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1E46D-AC9A-4F3E-A9FD-7A59A4F7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5E5B0-D86F-4D5B-BF8C-19FF5B84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14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7767-6AD4-466D-B9FB-2EE85FB22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82811-84ED-4676-80A8-D8D7A401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A3CEA-54BB-43D1-B358-C889A9188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91D85-1761-417D-87C8-07DB6E70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60304-A468-419B-ADB6-4FC8B5FB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7D4FF-8CCF-491F-A14C-3F8865A1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79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ED16-8909-4FE6-8E38-55A1DF93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2EEE4C-1D23-4544-8FDF-7D5237942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AD913-408A-4240-802E-407C36A97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23445-8BCD-4320-AFD5-C0012515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3C4AB-5286-45E7-8B75-F81C4C6E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2BA45-8257-408F-B2E5-7F9B9797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45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3A08-D68E-45D5-8225-8EC67BA2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5DFB3-9227-4EDD-8F88-DD0C1C7C0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FCC6-920A-4EF2-8599-BEFAC6FA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A158B-DAB1-4356-9F57-FD09E43B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769D7-4466-48D2-A825-2FAE4A4B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C8FDB-7309-4E07-A5A5-02DCC829C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8B25B-311C-4E83-929B-AB0A46486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31219-E7FF-4F91-B091-611F8503E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9F716-3317-4ED8-99B8-CFA187CC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FBE51-7B86-4F1B-A097-759649AA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41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FEEB8-281C-4E92-B6CF-2DF455C0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61823-57EF-4001-83DE-EE284633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A7023-25DC-451C-9A6B-67054CEB7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B2FC0-E766-417E-8ECB-EB6EB7670138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8909-D1AB-40EE-AC78-B527137B7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533AF-57E9-473E-A873-C9E225E81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9A1B6-4B99-4D4A-B049-91286D5A3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62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Proposi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277D-3E51-4548-8A69-E453DC45B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31" y="1740024"/>
            <a:ext cx="2710649" cy="1759999"/>
          </a:xfrm>
        </p:spPr>
        <p:txBody>
          <a:bodyPr>
            <a:normAutofit/>
          </a:bodyPr>
          <a:lstStyle/>
          <a:p>
            <a:r>
              <a:rPr lang="en-GB" sz="4000" dirty="0"/>
              <a:t>Thesis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48C58-3218-47C6-9E6B-04CB40858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431" y="3684196"/>
            <a:ext cx="2710649" cy="1655762"/>
          </a:xfrm>
        </p:spPr>
        <p:txBody>
          <a:bodyPr/>
          <a:lstStyle/>
          <a:p>
            <a:r>
              <a:rPr lang="en-GB" dirty="0"/>
              <a:t>25.9.2026 </a:t>
            </a:r>
          </a:p>
          <a:p>
            <a:r>
              <a:rPr lang="en-GB" dirty="0"/>
              <a:t>Manuel Mazzara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D75E4-8524-4FA1-BCE0-788A31626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678" y="0"/>
            <a:ext cx="9083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6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1055-F02B-4E96-BF40-0CAD73A3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78625-9A9A-4922-B7FD-7DC389403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Part 1: Time Machine</a:t>
            </a:r>
          </a:p>
          <a:p>
            <a:r>
              <a:rPr lang="en-GB" sz="4000" dirty="0"/>
              <a:t>Part 2: Roll up your sleeves</a:t>
            </a:r>
          </a:p>
          <a:p>
            <a:r>
              <a:rPr lang="en-GB" sz="4000" dirty="0"/>
              <a:t>Part 3: Motivation </a:t>
            </a:r>
          </a:p>
          <a:p>
            <a:r>
              <a:rPr lang="en-GB" sz="4000" dirty="0"/>
              <a:t>Part 4: Questions and Answers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090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71B6-2A25-4B5C-94B6-8CBB8DA1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thesis?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43C2E-35AA-4CEF-A891-4B7270F4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An academic </a:t>
            </a:r>
            <a:r>
              <a:rPr lang="en-GB" b="1" i="0" u="sng" dirty="0">
                <a:solidFill>
                  <a:srgbClr val="001D35"/>
                </a:solidFill>
                <a:effectLst/>
                <a:latin typeface="Google Sans"/>
              </a:rPr>
              <a:t>thesis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 is </a:t>
            </a:r>
            <a:r>
              <a:rPr lang="en-GB" dirty="0"/>
              <a:t>an </a:t>
            </a:r>
            <a:r>
              <a:rPr lang="en-GB" b="1" u="sng" dirty="0"/>
              <a:t>original research document submitted to fulfil the requirements for an academic degree </a:t>
            </a:r>
            <a:r>
              <a:rPr lang="en-GB" dirty="0"/>
              <a:t>(BS, MS, PhD)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The term </a:t>
            </a:r>
            <a:r>
              <a:rPr lang="en-GB" b="1" u="sng" dirty="0"/>
              <a:t>dissertation</a:t>
            </a:r>
            <a:r>
              <a:rPr lang="en-GB" dirty="0"/>
              <a:t> is often used to indicate a PhD written thesis</a:t>
            </a:r>
          </a:p>
        </p:txBody>
      </p:sp>
    </p:spTree>
    <p:extLst>
      <p:ext uri="{BB962C8B-B14F-4D97-AF65-F5344CB8AC3E}">
        <p14:creationId xmlns:p14="http://schemas.microsoft.com/office/powerpoint/2010/main" val="251611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58B5-71F9-48BC-BE2C-6A8272B89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Etymology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7D5E6-A30B-43E1-8BF7-074D89073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altLang="en-US" dirty="0">
                <a:solidFill>
                  <a:srgbClr val="001D35"/>
                </a:solidFill>
                <a:latin typeface="Google Sans"/>
              </a:rPr>
              <a:t>Thesis comes from Greek (</a:t>
            </a:r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θέσις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): </a:t>
            </a:r>
            <a:r>
              <a:rPr lang="en-US" altLang="en-US" dirty="0">
                <a:solidFill>
                  <a:srgbClr val="001D35"/>
                </a:solidFill>
                <a:latin typeface="Google Sans"/>
              </a:rPr>
              <a:t>"something put forth“</a:t>
            </a:r>
          </a:p>
          <a:p>
            <a:pPr lvl="1" algn="just"/>
            <a:r>
              <a:rPr lang="en-US" altLang="en-US" dirty="0">
                <a:solidFill>
                  <a:srgbClr val="001D35"/>
                </a:solidFill>
                <a:latin typeface="Google Sans"/>
              </a:rPr>
              <a:t>an intellectual </a:t>
            </a:r>
            <a:r>
              <a:rPr lang="en-US" altLang="en-US" dirty="0">
                <a:solidFill>
                  <a:srgbClr val="001D35"/>
                </a:solidFill>
                <a:latin typeface="Google Sans"/>
                <a:hlinkClick r:id="rId2" tooltip="Propos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proposition</a:t>
            </a:r>
            <a:endParaRPr lang="en-US" altLang="en-US" dirty="0">
              <a:solidFill>
                <a:srgbClr val="001D35"/>
              </a:solidFill>
              <a:latin typeface="Google Sans"/>
            </a:endParaRPr>
          </a:p>
          <a:p>
            <a:pPr lvl="1" algn="just"/>
            <a:endParaRPr lang="en-US" altLang="en-US" dirty="0">
              <a:solidFill>
                <a:srgbClr val="001D35"/>
              </a:solidFill>
              <a:latin typeface="Google Sans"/>
            </a:endParaRPr>
          </a:p>
          <a:p>
            <a:pPr algn="just"/>
            <a:r>
              <a:rPr lang="en-US" altLang="en-US" dirty="0">
                <a:solidFill>
                  <a:srgbClr val="001D35"/>
                </a:solidFill>
                <a:latin typeface="Google Sans"/>
              </a:rPr>
              <a:t>Dissertation comes from Latin (</a:t>
            </a:r>
            <a:r>
              <a:rPr lang="en-US" altLang="en-US" dirty="0" err="1">
                <a:solidFill>
                  <a:srgbClr val="001D35"/>
                </a:solidFill>
                <a:latin typeface="Google Sans"/>
              </a:rPr>
              <a:t>dissertātiō</a:t>
            </a:r>
            <a:r>
              <a:rPr lang="en-US" altLang="en-US" dirty="0">
                <a:solidFill>
                  <a:srgbClr val="001D35"/>
                </a:solidFill>
                <a:latin typeface="Google Sans"/>
              </a:rPr>
              <a:t>): "discussion". </a:t>
            </a:r>
          </a:p>
          <a:p>
            <a:pPr lvl="1" algn="just"/>
            <a:endParaRPr lang="en-US" sz="2800" dirty="0">
              <a:solidFill>
                <a:srgbClr val="001D35"/>
              </a:solidFill>
              <a:latin typeface="Google Sans"/>
            </a:endParaRPr>
          </a:p>
          <a:p>
            <a:pPr algn="just"/>
            <a:r>
              <a:rPr lang="en-GB" i="1" dirty="0">
                <a:solidFill>
                  <a:srgbClr val="001D35"/>
                </a:solidFill>
                <a:latin typeface="Google Sans"/>
              </a:rPr>
              <a:t>“A 'thesis' is a supposition of some eminent philosopher that conflicts with the general opinion ... for to take notice when any ordinary person expresses views contrary to men's usual” </a:t>
            </a:r>
            <a:r>
              <a:rPr lang="en-GB" dirty="0">
                <a:solidFill>
                  <a:srgbClr val="001D35"/>
                </a:solidFill>
                <a:latin typeface="Google Sans"/>
              </a:rPr>
              <a:t>(The Works of Aristotle. Vol. 1. Oxford: Clarendon Press)</a:t>
            </a:r>
          </a:p>
          <a:p>
            <a:pPr algn="just"/>
            <a:endParaRPr lang="en-GB" dirty="0">
              <a:solidFill>
                <a:srgbClr val="001D35"/>
              </a:solidFill>
              <a:latin typeface="Google Sans"/>
            </a:endParaRPr>
          </a:p>
          <a:p>
            <a:pPr algn="just"/>
            <a:r>
              <a:rPr lang="en-GB" dirty="0">
                <a:solidFill>
                  <a:srgbClr val="001D35"/>
                </a:solidFill>
                <a:latin typeface="Google Sans"/>
              </a:rPr>
              <a:t>For Aristotle a thesis was </a:t>
            </a:r>
            <a:r>
              <a:rPr lang="en-GB" b="1" u="sng" dirty="0">
                <a:solidFill>
                  <a:srgbClr val="001D35"/>
                </a:solidFill>
                <a:latin typeface="Google Sans"/>
              </a:rPr>
              <a:t>a supposition stated in contradiction with general opinion</a:t>
            </a:r>
            <a:r>
              <a:rPr lang="en-GB" dirty="0">
                <a:solidFill>
                  <a:srgbClr val="001D35"/>
                </a:solidFill>
                <a:latin typeface="Google Sans"/>
              </a:rPr>
              <a:t> or expressing disagreement with other philosophers </a:t>
            </a:r>
          </a:p>
          <a:p>
            <a:pPr algn="just"/>
            <a:endParaRPr lang="en-GB" dirty="0">
              <a:solidFill>
                <a:srgbClr val="001D35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648526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F3D7-DD5B-40CD-8002-5A6DC5A50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2187"/>
            <a:ext cx="9144000" cy="925383"/>
          </a:xfrm>
        </p:spPr>
        <p:txBody>
          <a:bodyPr/>
          <a:lstStyle/>
          <a:p>
            <a:r>
              <a:rPr lang="en-GB" u="sng" dirty="0"/>
              <a:t>Part 1: Time Machine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8C6EC4-5D55-4069-B373-7C4407FA6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380" y="3209677"/>
            <a:ext cx="2747240" cy="274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86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AE010A-A04F-463A-BEAE-C40630EB2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758"/>
            <a:ext cx="8735627" cy="573057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1A93C6-8B97-4D65-B2BA-C608E5EB7B43}"/>
              </a:ext>
            </a:extLst>
          </p:cNvPr>
          <p:cNvSpPr txBox="1"/>
          <p:nvPr/>
        </p:nvSpPr>
        <p:spPr>
          <a:xfrm>
            <a:off x="6829147" y="6122918"/>
            <a:ext cx="4898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Death of Socrates - Jacques-Louis David (1787)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AE1817-921C-472D-90FE-7DFA5411FEEC}"/>
              </a:ext>
            </a:extLst>
          </p:cNvPr>
          <p:cNvSpPr/>
          <p:nvPr/>
        </p:nvSpPr>
        <p:spPr>
          <a:xfrm>
            <a:off x="6829147" y="6027938"/>
            <a:ext cx="4978154" cy="568171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31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E2A8-A701-49AB-BB0B-85D762B6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seven classic liberal 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CFA726-27CF-4A2B-ADCB-E58ED0CFB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39" y="1825625"/>
            <a:ext cx="9511121" cy="4351338"/>
          </a:xfrm>
        </p:spPr>
      </p:pic>
    </p:spTree>
    <p:extLst>
      <p:ext uri="{BB962C8B-B14F-4D97-AF65-F5344CB8AC3E}">
        <p14:creationId xmlns:p14="http://schemas.microsoft.com/office/powerpoint/2010/main" val="125632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186B-BD74-41D7-B8A3-85640BB1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Trivium and quadrivium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07BBC-0362-4649-A6EC-EB83B0D45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001D35"/>
                </a:solidFill>
                <a:latin typeface="Google Sans"/>
              </a:rPr>
              <a:t>T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he seven classical liberal arts were foundational to Western education until the </a:t>
            </a:r>
            <a:r>
              <a:rPr lang="en-GB" b="0" i="1" dirty="0">
                <a:solidFill>
                  <a:srgbClr val="001D35"/>
                </a:solidFill>
                <a:effectLst/>
                <a:latin typeface="Google Sans"/>
              </a:rPr>
              <a:t>Renaissance (14th century)</a:t>
            </a:r>
          </a:p>
          <a:p>
            <a:pPr algn="just"/>
            <a:endParaRPr lang="en-GB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just"/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The </a:t>
            </a:r>
            <a:r>
              <a:rPr lang="en-GB" b="1" i="0" u="sng" dirty="0">
                <a:solidFill>
                  <a:srgbClr val="001D35"/>
                </a:solidFill>
                <a:effectLst/>
                <a:latin typeface="Google Sans"/>
              </a:rPr>
              <a:t>trivium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: </a:t>
            </a:r>
            <a:r>
              <a:rPr lang="en-GB" b="1" i="0" u="sng" dirty="0">
                <a:solidFill>
                  <a:srgbClr val="001D35"/>
                </a:solidFill>
                <a:effectLst/>
                <a:latin typeface="Google Sans"/>
              </a:rPr>
              <a:t>language and argument</a:t>
            </a:r>
          </a:p>
          <a:p>
            <a:pPr algn="just"/>
            <a:endParaRPr lang="en-GB" dirty="0">
              <a:solidFill>
                <a:srgbClr val="001D35"/>
              </a:solidFill>
              <a:latin typeface="Google Sans"/>
            </a:endParaRPr>
          </a:p>
          <a:p>
            <a:pPr algn="just"/>
            <a:r>
              <a:rPr lang="en-GB" dirty="0">
                <a:solidFill>
                  <a:srgbClr val="001D35"/>
                </a:solidFill>
                <a:latin typeface="Google Sans"/>
              </a:rPr>
              <a:t>T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he </a:t>
            </a:r>
            <a:r>
              <a:rPr lang="en-GB" b="1" i="0" u="sng" dirty="0">
                <a:solidFill>
                  <a:srgbClr val="001D35"/>
                </a:solidFill>
                <a:effectLst/>
                <a:latin typeface="Google Sans"/>
              </a:rPr>
              <a:t>quadrivium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GB" b="1" i="0" u="sng" dirty="0">
                <a:solidFill>
                  <a:srgbClr val="001D35"/>
                </a:solidFill>
                <a:effectLst/>
                <a:latin typeface="Google Sans"/>
              </a:rPr>
              <a:t>mathematical and scientific reasoning</a:t>
            </a:r>
          </a:p>
          <a:p>
            <a:pPr lvl="1" algn="just"/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a structured path for intellectual development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4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ADFA-05C3-47F1-9564-694E4ACE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Middle-age: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AFE9-B830-4243-BE98-BD417C66E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Medieval European universities (12th-13th centuries) </a:t>
            </a:r>
          </a:p>
          <a:p>
            <a:pPr lvl="1"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Not a written document but a public oral examination</a:t>
            </a:r>
          </a:p>
          <a:p>
            <a:pPr algn="just"/>
            <a:endParaRPr lang="en-GB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A student would publicly defend a set of propositions (</a:t>
            </a:r>
            <a:r>
              <a:rPr lang="en-GB" b="0" i="1" dirty="0">
                <a:solidFill>
                  <a:srgbClr val="0F1115"/>
                </a:solidFill>
                <a:effectLst/>
                <a:latin typeface="quote-cjk-patch"/>
              </a:rPr>
              <a:t>these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) against challengers </a:t>
            </a:r>
          </a:p>
          <a:p>
            <a:pPr lvl="1"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This would demonstrate their mastery of existing knowledge and skill in logical argument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8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82B3D7-3B79-40D0-95FB-D35197AB8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6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E109-D6CE-4704-8782-FEB77634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oral to written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9D89-3D92-4545-BBE8-A15724DD4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0F1115"/>
                </a:solidFill>
                <a:latin typeface="quote-cjk-patch"/>
              </a:rPr>
              <a:t>T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he oral defence remained, supported by </a:t>
            </a:r>
            <a:r>
              <a:rPr lang="en-GB" b="1" i="0" u="sng" dirty="0">
                <a:solidFill>
                  <a:srgbClr val="0F1115"/>
                </a:solidFill>
                <a:effectLst/>
                <a:latin typeface="quote-cjk-patch"/>
              </a:rPr>
              <a:t>a written dissertation 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served as the basis for the disputation (17th and 18th centuries)</a:t>
            </a:r>
          </a:p>
          <a:p>
            <a:pPr algn="just"/>
            <a:endParaRPr lang="en-GB" dirty="0">
              <a:solidFill>
                <a:srgbClr val="0F1115"/>
              </a:solidFill>
              <a:latin typeface="quote-cjk-patch"/>
            </a:endParaRPr>
          </a:p>
          <a:p>
            <a:pPr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In German universities, this evolved into the requirement for an </a:t>
            </a:r>
            <a:r>
              <a:rPr lang="en-GB" b="0" i="1" dirty="0" err="1">
                <a:solidFill>
                  <a:srgbClr val="0F1115"/>
                </a:solidFill>
                <a:effectLst/>
                <a:latin typeface="quote-cjk-patch"/>
              </a:rPr>
              <a:t>Inauguraldissertation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—a substantial written work submitted for examination prior to the oral defence, marking </a:t>
            </a:r>
            <a:r>
              <a:rPr lang="en-GB" b="1" i="0" u="sng" dirty="0">
                <a:solidFill>
                  <a:srgbClr val="0F1115"/>
                </a:solidFill>
                <a:effectLst/>
                <a:latin typeface="quote-cjk-patch"/>
              </a:rPr>
              <a:t>a key shift toward valuing the permanent, written record of scholarship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2146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57BC-C899-4032-B712-FAB5D7B6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modern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AC881-6D5C-4ADD-9F46-EDBE8CB9B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Mostly shaped in 19th-century German universities</a:t>
            </a:r>
          </a:p>
          <a:p>
            <a:endParaRPr lang="en-GB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An </a:t>
            </a:r>
            <a:r>
              <a:rPr lang="en-GB" b="1" i="0" dirty="0">
                <a:solidFill>
                  <a:srgbClr val="0F1115"/>
                </a:solidFill>
                <a:effectLst/>
                <a:latin typeface="quote-cjk-patch"/>
              </a:rPr>
              <a:t>original contribution to knowledge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, essential for the research doctorate (PhD)</a:t>
            </a:r>
          </a:p>
          <a:p>
            <a:endParaRPr lang="en-GB" dirty="0">
              <a:solidFill>
                <a:srgbClr val="0F1115"/>
              </a:solidFill>
              <a:latin typeface="quote-cjk-patch"/>
            </a:endParaRPr>
          </a:p>
          <a:p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This model emphasized </a:t>
            </a:r>
            <a:r>
              <a:rPr lang="en-GB" b="1" i="0" dirty="0">
                <a:solidFill>
                  <a:srgbClr val="0F1115"/>
                </a:solidFill>
                <a:effectLst/>
                <a:latin typeface="quote-cjk-patch"/>
              </a:rPr>
              <a:t>empirical investigation 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and the </a:t>
            </a:r>
            <a:r>
              <a:rPr lang="en-GB" b="1" i="0" dirty="0">
                <a:solidFill>
                  <a:srgbClr val="0F1115"/>
                </a:solidFill>
                <a:effectLst/>
                <a:latin typeface="quote-cjk-patch"/>
              </a:rPr>
              <a:t>creation of new knowledge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, not just the synthesis of existing ideas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401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F10C-9340-4F02-9AC7-8EE137D0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Germany to 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8BE2-B187-4C16-832E-6614DEF1B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The German research-focused PhD model was widely adopted, most notably in the United States </a:t>
            </a:r>
          </a:p>
          <a:p>
            <a:pPr lvl="1" algn="just"/>
            <a:r>
              <a:rPr lang="en-GB" b="0" i="1" dirty="0">
                <a:solidFill>
                  <a:srgbClr val="0F1115"/>
                </a:solidFill>
                <a:effectLst/>
                <a:latin typeface="quote-cjk-patch"/>
              </a:rPr>
              <a:t>Johns Hopkins University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 in 1876, 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considered the first research university in the United States</a:t>
            </a:r>
            <a:endParaRPr lang="en-GB" dirty="0">
              <a:solidFill>
                <a:srgbClr val="0F1115"/>
              </a:solidFill>
              <a:latin typeface="quote-cjk-patch"/>
            </a:endParaRPr>
          </a:p>
          <a:p>
            <a:pPr lvl="1" algn="just"/>
            <a:endParaRPr lang="en-GB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The thesis (especially the doctoral dissertation) was established as a </a:t>
            </a:r>
            <a:r>
              <a:rPr lang="en-GB" b="1" i="0" u="sng" dirty="0">
                <a:solidFill>
                  <a:srgbClr val="0F1115"/>
                </a:solidFill>
                <a:effectLst/>
                <a:latin typeface="quote-cjk-patch"/>
              </a:rPr>
              <a:t>global standard for awarding advanced degrees</a:t>
            </a:r>
          </a:p>
          <a:p>
            <a:pPr algn="just"/>
            <a:endParaRPr lang="en-GB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Hence the appearance of </a:t>
            </a:r>
            <a:r>
              <a:rPr lang="en-GB" b="1" i="0" u="sng" dirty="0">
                <a:solidFill>
                  <a:srgbClr val="0F1115"/>
                </a:solidFill>
                <a:effectLst/>
                <a:latin typeface="quote-cjk-patch"/>
              </a:rPr>
              <a:t>a standard structure into chapters 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(Introduction, Literature Review, Methodology…)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924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55DB-2298-42F0-8F55-ADE65C19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20</a:t>
            </a:r>
            <a:r>
              <a:rPr lang="en-GB" baseline="30000" dirty="0"/>
              <a:t>th</a:t>
            </a:r>
            <a:r>
              <a:rPr lang="en-GB" dirty="0"/>
              <a:t> and 21</a:t>
            </a:r>
            <a:r>
              <a:rPr lang="en-GB" baseline="30000" dirty="0"/>
              <a:t>st</a:t>
            </a:r>
            <a:r>
              <a:rPr lang="en-GB" dirty="0"/>
              <a:t> centuries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F25A-91E4-4B72-A949-01E0409D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In the 20th century, </a:t>
            </a:r>
            <a:r>
              <a:rPr lang="en-GB" b="1" i="0" u="sng" dirty="0">
                <a:solidFill>
                  <a:srgbClr val="0F1115"/>
                </a:solidFill>
                <a:effectLst/>
                <a:latin typeface="quote-cjk-patch"/>
              </a:rPr>
              <a:t>this practice </a:t>
            </a:r>
            <a:r>
              <a:rPr lang="en-GB" b="1" u="sng" dirty="0">
                <a:solidFill>
                  <a:srgbClr val="0F1115"/>
                </a:solidFill>
                <a:latin typeface="quote-cjk-patch"/>
              </a:rPr>
              <a:t>w</a:t>
            </a:r>
            <a:r>
              <a:rPr lang="en-GB" b="1" i="0" u="sng" dirty="0">
                <a:solidFill>
                  <a:srgbClr val="0F1115"/>
                </a:solidFill>
                <a:effectLst/>
                <a:latin typeface="quote-cjk-patch"/>
              </a:rPr>
              <a:t>as extended and established to lower degrees</a:t>
            </a:r>
          </a:p>
          <a:p>
            <a:endParaRPr lang="en-GB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This allowed students at all levels to engage in independent research, though the expectation of originality was scaled to their experience</a:t>
            </a:r>
          </a:p>
          <a:p>
            <a:endParaRPr lang="en-GB" dirty="0"/>
          </a:p>
          <a:p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In 21</a:t>
            </a:r>
            <a:r>
              <a:rPr lang="en-GB" b="0" i="0" baseline="30000" dirty="0">
                <a:solidFill>
                  <a:srgbClr val="0F1115"/>
                </a:solidFill>
                <a:effectLst/>
                <a:latin typeface="quote-cjk-patch"/>
              </a:rPr>
              <a:t>st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 century, submission, archiving, and dissemination are primarily electronic through </a:t>
            </a:r>
            <a:r>
              <a:rPr lang="en-GB" b="1" i="0" u="sng" dirty="0">
                <a:solidFill>
                  <a:srgbClr val="0F1115"/>
                </a:solidFill>
                <a:effectLst/>
                <a:latin typeface="quote-cjk-patch"/>
              </a:rPr>
              <a:t>online repositors </a:t>
            </a:r>
          </a:p>
          <a:p>
            <a:pPr lvl="1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increased accessibility, inclusion of non-textual media, and promoted the principles of open access to scholarly research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65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9E43-1A8F-48A5-8CFA-8D2BA2C3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Academic degrees in Russia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EB659-FE38-4DAA-A777-FF5D96A53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0F1115"/>
                </a:solidFill>
                <a:latin typeface="quote-cjk-patch"/>
              </a:rPr>
              <a:t>Russian empire</a:t>
            </a:r>
          </a:p>
          <a:p>
            <a:pPr lvl="1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Moscow University (1755): Lomonosov advocated for a system of academic degrees modelled on those of Western Europe </a:t>
            </a:r>
          </a:p>
          <a:p>
            <a:pPr lvl="1"/>
            <a:r>
              <a:rPr lang="en-GB" dirty="0">
                <a:solidFill>
                  <a:srgbClr val="0F1115"/>
                </a:solidFill>
                <a:latin typeface="quote-cjk-patch"/>
              </a:rPr>
              <a:t>G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ranted scientists noble status and made academic pursuit a path to social advancement</a:t>
            </a:r>
          </a:p>
          <a:p>
            <a:pPr lvl="1"/>
            <a:endParaRPr lang="en-GB" dirty="0">
              <a:solidFill>
                <a:srgbClr val="0F1115"/>
              </a:solidFill>
              <a:latin typeface="quote-cjk-patch"/>
            </a:endParaRPr>
          </a:p>
          <a:p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Post-revolution </a:t>
            </a:r>
          </a:p>
          <a:p>
            <a:pPr lvl="1"/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In 1918, all academic degrees and titles were abolished to eliminate class privileges, and then restored in 1934 with changes </a:t>
            </a:r>
          </a:p>
          <a:p>
            <a:pPr lvl="1"/>
            <a:r>
              <a:rPr lang="en-GB" b="1" i="0" dirty="0">
                <a:solidFill>
                  <a:srgbClr val="0F1115"/>
                </a:solidFill>
                <a:effectLst/>
                <a:latin typeface="quote-cjk-patch"/>
              </a:rPr>
              <a:t>Candidate of Sciences vs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GB" b="1" i="0" dirty="0">
                <a:solidFill>
                  <a:srgbClr val="0F1115"/>
                </a:solidFill>
                <a:effectLst/>
                <a:latin typeface="quote-cjk-patch"/>
              </a:rPr>
              <a:t>Doctor of Sciences</a:t>
            </a:r>
            <a:r>
              <a:rPr lang="en-GB" dirty="0">
                <a:solidFill>
                  <a:srgbClr val="0F1115"/>
                </a:solidFill>
                <a:latin typeface="quote-cjk-patch"/>
              </a:rPr>
              <a:t>, the 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two-tiered structure that defines the system today</a:t>
            </a:r>
          </a:p>
          <a:p>
            <a:pPr lvl="1"/>
            <a:endParaRPr lang="en-GB" dirty="0">
              <a:solidFill>
                <a:srgbClr val="0F1115"/>
              </a:solidFill>
              <a:latin typeface="quote-cjk-patch"/>
            </a:endParaRPr>
          </a:p>
          <a:p>
            <a:r>
              <a:rPr lang="en-GB" dirty="0">
                <a:solidFill>
                  <a:srgbClr val="0F1115"/>
                </a:solidFill>
                <a:latin typeface="quote-cjk-patch"/>
              </a:rPr>
              <a:t>A</a:t>
            </a: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 blend of adopted European models and unique  adaptations</a:t>
            </a:r>
            <a:endParaRPr lang="en-GB" dirty="0">
              <a:solidFill>
                <a:srgbClr val="0F1115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843103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698E46-0C27-4485-AC31-9C4EB51C5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49681"/>
          </a:xfrm>
        </p:spPr>
      </p:pic>
    </p:spTree>
    <p:extLst>
      <p:ext uri="{BB962C8B-B14F-4D97-AF65-F5344CB8AC3E}">
        <p14:creationId xmlns:p14="http://schemas.microsoft.com/office/powerpoint/2010/main" val="72511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F3D7-DD5B-40CD-8002-5A6DC5A50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2187"/>
            <a:ext cx="9144000" cy="925383"/>
          </a:xfrm>
        </p:spPr>
        <p:txBody>
          <a:bodyPr/>
          <a:lstStyle/>
          <a:p>
            <a:r>
              <a:rPr lang="en-GB" b="1" u="sng" dirty="0"/>
              <a:t>Part 2</a:t>
            </a:r>
            <a:r>
              <a:rPr lang="en-GB" b="1" u="sng"/>
              <a:t>: Roll </a:t>
            </a:r>
            <a:r>
              <a:rPr lang="en-GB" b="1" u="sng" dirty="0"/>
              <a:t>up your sleeves </a:t>
            </a:r>
            <a:endParaRPr lang="en-GB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4D3ADF-606D-4499-ACEF-70C36A5E8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343096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2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8EDA-04B0-41EC-9E20-C5D88A9F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find a supervisor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C4DE8-AB80-4ECA-AD02-CE224D6A8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 is a competitive process: many students and few supervisors</a:t>
            </a:r>
          </a:p>
          <a:p>
            <a:pPr lvl="1"/>
            <a:r>
              <a:rPr lang="en-GB" dirty="0"/>
              <a:t>Act as early as possible (typically April-May is the right time to act)</a:t>
            </a:r>
          </a:p>
          <a:p>
            <a:pPr lvl="1"/>
            <a:r>
              <a:rPr lang="en-GB" dirty="0"/>
              <a:t>If you haven’t found one, you are already </a:t>
            </a:r>
            <a:r>
              <a:rPr lang="en-GB" b="1" u="sng" dirty="0"/>
              <a:t>very late</a:t>
            </a:r>
          </a:p>
          <a:p>
            <a:pPr lvl="1"/>
            <a:r>
              <a:rPr lang="en-GB" b="1" u="sng" dirty="0"/>
              <a:t>Proactivity</a:t>
            </a:r>
            <a:r>
              <a:rPr lang="en-GB" dirty="0"/>
              <a:t> is expected, this activity is very different from anything else you have done before</a:t>
            </a:r>
          </a:p>
          <a:p>
            <a:endParaRPr lang="en-GB" dirty="0"/>
          </a:p>
          <a:p>
            <a:r>
              <a:rPr lang="en-GB" dirty="0"/>
              <a:t>How to choose a supervisor?</a:t>
            </a:r>
          </a:p>
          <a:p>
            <a:pPr lvl="1"/>
            <a:r>
              <a:rPr lang="en-GB" dirty="0"/>
              <a:t>Two main criteria: </a:t>
            </a:r>
            <a:r>
              <a:rPr lang="en-GB" b="1" u="sng" dirty="0"/>
              <a:t>research interests </a:t>
            </a:r>
            <a:r>
              <a:rPr lang="en-GB" dirty="0"/>
              <a:t>and </a:t>
            </a:r>
            <a:r>
              <a:rPr lang="en-GB" b="1" u="sng" dirty="0"/>
              <a:t>personal affinity </a:t>
            </a:r>
          </a:p>
          <a:p>
            <a:pPr lvl="1"/>
            <a:r>
              <a:rPr lang="en-GB" dirty="0"/>
              <a:t>Make a short list of potential supervisors based on these criteria and contact them in person, email, telegram…</a:t>
            </a:r>
          </a:p>
          <a:p>
            <a:pPr lvl="1"/>
            <a:r>
              <a:rPr lang="en-GB" dirty="0"/>
              <a:t>It is highly recommended to come already with a </a:t>
            </a:r>
            <a:r>
              <a:rPr lang="en-GB" b="1" u="sng" dirty="0"/>
              <a:t>research proposal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6093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D1DD-B09D-4126-851B-DE0D0BD1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completing a research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C03E-46C5-49D4-9F92-07F7ECBAC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 is preferable to have a draft before meeting potential supervisors</a:t>
            </a:r>
          </a:p>
          <a:p>
            <a:pPr lvl="1"/>
            <a:r>
              <a:rPr lang="en-GB" dirty="0"/>
              <a:t>After the meeting, you will have to elaborate further</a:t>
            </a:r>
          </a:p>
          <a:p>
            <a:pPr lvl="1"/>
            <a:r>
              <a:rPr lang="en-GB" dirty="0"/>
              <a:t>First draft can be 4-5 pages</a:t>
            </a:r>
          </a:p>
          <a:p>
            <a:pPr lvl="1"/>
            <a:endParaRPr lang="en-GB" dirty="0"/>
          </a:p>
          <a:p>
            <a:r>
              <a:rPr lang="en-GB" dirty="0"/>
              <a:t>What the proposal should contain (at least)?</a:t>
            </a:r>
          </a:p>
          <a:p>
            <a:pPr lvl="1"/>
            <a:r>
              <a:rPr lang="en-GB" sz="2000" dirty="0"/>
              <a:t>Introduction and research problem </a:t>
            </a:r>
          </a:p>
          <a:p>
            <a:pPr lvl="1"/>
            <a:r>
              <a:rPr lang="en-GB" sz="2000" dirty="0"/>
              <a:t>Research questions </a:t>
            </a:r>
          </a:p>
          <a:p>
            <a:pPr lvl="1"/>
            <a:r>
              <a:rPr lang="en-GB" sz="2000" dirty="0"/>
              <a:t>Novelty and contributions</a:t>
            </a:r>
          </a:p>
          <a:p>
            <a:pPr lvl="1"/>
            <a:r>
              <a:rPr lang="en-GB" sz="2000" dirty="0"/>
              <a:t>State-of-the-Art (early draft of literature review) </a:t>
            </a:r>
          </a:p>
          <a:p>
            <a:pPr lvl="1"/>
            <a:r>
              <a:rPr lang="en-GB" sz="2000" dirty="0"/>
              <a:t>Goal of the Thesis</a:t>
            </a:r>
          </a:p>
          <a:p>
            <a:pPr lvl="1"/>
            <a:r>
              <a:rPr lang="en-GB" sz="2000" dirty="0"/>
              <a:t>Detailed Work Plan and schedule (at least by month)</a:t>
            </a:r>
          </a:p>
          <a:p>
            <a:pPr lvl="1"/>
            <a:r>
              <a:rPr lang="en-GB" sz="2000" dirty="0"/>
              <a:t>References</a:t>
            </a:r>
          </a:p>
          <a:p>
            <a:pPr lvl="1"/>
            <a:endParaRPr lang="en-GB" sz="1800" u="none" strike="noStrike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459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698D-88B7-477C-91C7-44639D11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agreeing with a supervisor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4245-388B-432B-A211-C94D4E3F6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may take some communication and a couple of meetings over 1-2 weeks</a:t>
            </a:r>
          </a:p>
          <a:p>
            <a:r>
              <a:rPr lang="en-GB" dirty="0"/>
              <a:t>It may take some editing of the proposal </a:t>
            </a:r>
          </a:p>
          <a:p>
            <a:r>
              <a:rPr lang="en-GB" dirty="0"/>
              <a:t>Not all the supervisors follow exactly the same approach, some are more strict, some less</a:t>
            </a:r>
          </a:p>
          <a:p>
            <a:r>
              <a:rPr lang="en-GB" dirty="0"/>
              <a:t>When you have an agreement you can start working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7530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9210-3B6A-4BAE-99CA-1C8F04ABB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9" y="2060197"/>
            <a:ext cx="11607282" cy="2737605"/>
          </a:xfrm>
        </p:spPr>
        <p:txBody>
          <a:bodyPr>
            <a:normAutofit/>
          </a:bodyPr>
          <a:lstStyle/>
          <a:p>
            <a:r>
              <a:rPr lang="en-GB" sz="4800" b="1" dirty="0"/>
              <a:t>You must find a </a:t>
            </a:r>
            <a:r>
              <a:rPr lang="en-GB" sz="4800" b="1" u="sng" dirty="0"/>
              <a:t>supervisor</a:t>
            </a:r>
            <a:r>
              <a:rPr lang="en-GB" sz="4800" b="1" dirty="0"/>
              <a:t> and </a:t>
            </a:r>
            <a:br>
              <a:rPr lang="en-GB" sz="4800" b="1" dirty="0"/>
            </a:br>
            <a:r>
              <a:rPr lang="en-GB" sz="4800" b="1" dirty="0"/>
              <a:t>have a </a:t>
            </a:r>
            <a:r>
              <a:rPr lang="en-GB" sz="4800" b="1" u="sng" dirty="0"/>
              <a:t>topic</a:t>
            </a:r>
            <a:r>
              <a:rPr lang="en-GB" sz="4800" b="1" dirty="0"/>
              <a:t> by :</a:t>
            </a:r>
            <a:br>
              <a:rPr lang="en-GB" sz="4800" b="1" dirty="0"/>
            </a:br>
            <a:r>
              <a:rPr lang="en-GB" sz="4800" b="1" u="sng" dirty="0"/>
              <a:t>Bachelors</a:t>
            </a:r>
            <a:r>
              <a:rPr lang="en-GB" sz="4800" b="1" dirty="0"/>
              <a:t>: October 12th</a:t>
            </a:r>
            <a:br>
              <a:rPr lang="en-GB" sz="4800" b="1" dirty="0"/>
            </a:br>
            <a:r>
              <a:rPr lang="en-GB" sz="4800" b="1" u="sng" dirty="0"/>
              <a:t>Masters</a:t>
            </a:r>
            <a:r>
              <a:rPr lang="en-GB" sz="4800" b="1" dirty="0"/>
              <a:t>: October 19th</a:t>
            </a:r>
          </a:p>
        </p:txBody>
      </p:sp>
    </p:spTree>
    <p:extLst>
      <p:ext uri="{BB962C8B-B14F-4D97-AF65-F5344CB8AC3E}">
        <p14:creationId xmlns:p14="http://schemas.microsoft.com/office/powerpoint/2010/main" val="3201266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EC21-7DE1-45EB-8682-8E359412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supervision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6CBE-6BF4-4F05-A54C-E92BF6EC2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u="sng" dirty="0"/>
              <a:t>Set clear mutual expectations </a:t>
            </a:r>
          </a:p>
          <a:p>
            <a:pPr lvl="1"/>
            <a:r>
              <a:rPr lang="en-GB" dirty="0"/>
              <a:t>What do you expect from him/her?</a:t>
            </a:r>
          </a:p>
          <a:p>
            <a:pPr lvl="1"/>
            <a:r>
              <a:rPr lang="en-GB" dirty="0"/>
              <a:t>What he/she should expect from you?</a:t>
            </a:r>
          </a:p>
          <a:p>
            <a:pPr lvl="1"/>
            <a:endParaRPr lang="en-GB" dirty="0"/>
          </a:p>
          <a:p>
            <a:r>
              <a:rPr lang="en-GB" dirty="0"/>
              <a:t>Define whether </a:t>
            </a:r>
            <a:r>
              <a:rPr lang="en-GB" b="1" u="sng" dirty="0"/>
              <a:t>a co-supervisor is needed or not </a:t>
            </a:r>
            <a:r>
              <a:rPr lang="en-GB" dirty="0"/>
              <a:t>and how will you work with the co-supervisor </a:t>
            </a:r>
          </a:p>
          <a:p>
            <a:pPr lvl="1"/>
            <a:r>
              <a:rPr lang="en-GB" dirty="0"/>
              <a:t>The co-supervisor does not replace all the functions of the supervisor</a:t>
            </a:r>
          </a:p>
          <a:p>
            <a:endParaRPr lang="en-GB" dirty="0"/>
          </a:p>
          <a:p>
            <a:r>
              <a:rPr lang="en-GB" dirty="0"/>
              <a:t>Define with your supervisor a </a:t>
            </a:r>
            <a:r>
              <a:rPr lang="en-GB" b="1" u="sng" dirty="0"/>
              <a:t>communication and supervision style</a:t>
            </a:r>
          </a:p>
          <a:p>
            <a:pPr lvl="1"/>
            <a:r>
              <a:rPr lang="en-GB" dirty="0"/>
              <a:t>Push vs pull (</a:t>
            </a:r>
            <a:r>
              <a:rPr lang="en-GB" i="1" dirty="0"/>
              <a:t>who is searching who?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Remote vs in presence (</a:t>
            </a:r>
            <a:r>
              <a:rPr lang="en-GB" i="1" dirty="0"/>
              <a:t>where will you meet?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Internal timelines (</a:t>
            </a:r>
            <a:r>
              <a:rPr lang="en-GB" i="1" dirty="0"/>
              <a:t>when will you meet?)</a:t>
            </a:r>
          </a:p>
          <a:p>
            <a:pPr lvl="1"/>
            <a:r>
              <a:rPr lang="en-GB" dirty="0"/>
              <a:t>Internal milestones  (</a:t>
            </a:r>
            <a:r>
              <a:rPr lang="en-GB" i="1" dirty="0"/>
              <a:t>what will you share?)</a:t>
            </a:r>
          </a:p>
          <a:p>
            <a:pPr lvl="1"/>
            <a:r>
              <a:rPr lang="en-GB" dirty="0"/>
              <a:t>Common Instruments (</a:t>
            </a:r>
            <a:r>
              <a:rPr lang="en-GB" i="1" dirty="0"/>
              <a:t>how will you deliver?)</a:t>
            </a:r>
          </a:p>
        </p:txBody>
      </p:sp>
    </p:spTree>
    <p:extLst>
      <p:ext uri="{BB962C8B-B14F-4D97-AF65-F5344CB8AC3E}">
        <p14:creationId xmlns:p14="http://schemas.microsoft.com/office/powerpoint/2010/main" val="871733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5046-B1A3-46D0-BB02-9D6B7CD9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5: work hard for your first submission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0D00-AC21-48D6-BAB9-8AD089AC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From now on the interaction with your supervisor(s) will be </a:t>
            </a:r>
            <a:r>
              <a:rPr lang="en-GB" b="1" u="sng" dirty="0"/>
              <a:t>very personal and mutually clear  </a:t>
            </a:r>
          </a:p>
          <a:p>
            <a:pPr algn="just"/>
            <a:endParaRPr lang="en-GB" dirty="0"/>
          </a:p>
          <a:p>
            <a:pPr algn="just"/>
            <a:r>
              <a:rPr lang="en-GB" b="1" u="sng" dirty="0"/>
              <a:t>Moodle</a:t>
            </a:r>
            <a:r>
              <a:rPr lang="en-GB" dirty="0"/>
              <a:t> is the tool for the official submissions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Work on your </a:t>
            </a:r>
            <a:r>
              <a:rPr lang="en-GB" b="1" u="sng" dirty="0"/>
              <a:t>Chapter 1 (Introduction) and Chapter 2 (Literature review) </a:t>
            </a:r>
            <a:r>
              <a:rPr lang="en-GB" dirty="0"/>
              <a:t>according to the indications of your supervisor </a:t>
            </a:r>
          </a:p>
          <a:p>
            <a:pPr lvl="1" algn="just"/>
            <a:r>
              <a:rPr lang="en-GB" dirty="0"/>
              <a:t>Vast literature on how to write this part exist (you can also contact me and I will share some)</a:t>
            </a:r>
          </a:p>
        </p:txBody>
      </p:sp>
    </p:spTree>
    <p:extLst>
      <p:ext uri="{BB962C8B-B14F-4D97-AF65-F5344CB8AC3E}">
        <p14:creationId xmlns:p14="http://schemas.microsoft.com/office/powerpoint/2010/main" val="284202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9210-3B6A-4BAE-99CA-1C8F04ABB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9" y="1879292"/>
            <a:ext cx="11607282" cy="3099415"/>
          </a:xfrm>
        </p:spPr>
        <p:txBody>
          <a:bodyPr>
            <a:normAutofit/>
          </a:bodyPr>
          <a:lstStyle/>
          <a:p>
            <a:r>
              <a:rPr lang="en-GB" sz="4800" b="1" dirty="0"/>
              <a:t>You must submit your </a:t>
            </a:r>
            <a:br>
              <a:rPr lang="en-GB" sz="4800" b="1" dirty="0"/>
            </a:br>
            <a:r>
              <a:rPr lang="en-GB" sz="4800" b="1" u="sng" dirty="0"/>
              <a:t>first two chapters </a:t>
            </a:r>
            <a:r>
              <a:rPr lang="en-GB" sz="4800" b="1" dirty="0"/>
              <a:t>by:</a:t>
            </a:r>
            <a:br>
              <a:rPr lang="en-GB" sz="4800" b="1" dirty="0"/>
            </a:br>
            <a:r>
              <a:rPr lang="en-GB" sz="4800" b="1" u="sng" dirty="0"/>
              <a:t>Bachelors</a:t>
            </a:r>
            <a:r>
              <a:rPr lang="en-GB" sz="4800" b="1" dirty="0"/>
              <a:t>: November 1st</a:t>
            </a:r>
            <a:br>
              <a:rPr lang="en-GB" sz="4800" b="1" dirty="0"/>
            </a:br>
            <a:r>
              <a:rPr lang="en-GB" sz="4800" b="1" u="sng" dirty="0"/>
              <a:t>Masters</a:t>
            </a:r>
            <a:r>
              <a:rPr lang="en-GB" sz="4800" b="1" dirty="0"/>
              <a:t>: December 10th</a:t>
            </a:r>
          </a:p>
        </p:txBody>
      </p:sp>
    </p:spTree>
    <p:extLst>
      <p:ext uri="{BB962C8B-B14F-4D97-AF65-F5344CB8AC3E}">
        <p14:creationId xmlns:p14="http://schemas.microsoft.com/office/powerpoint/2010/main" val="989563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F3D7-DD5B-40CD-8002-5A6DC5A50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2187"/>
            <a:ext cx="9144000" cy="925383"/>
          </a:xfrm>
        </p:spPr>
        <p:txBody>
          <a:bodyPr/>
          <a:lstStyle/>
          <a:p>
            <a:r>
              <a:rPr lang="en-GB" u="sng" dirty="0"/>
              <a:t>Part 3: Motivation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7BBF6-ECC1-4EAA-ADAE-F127A33A4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231" y="3429000"/>
            <a:ext cx="3299538" cy="205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75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BC25-E35B-42B3-9726-41C1716A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82" y="365125"/>
            <a:ext cx="10719318" cy="1325563"/>
          </a:xfrm>
        </p:spPr>
        <p:txBody>
          <a:bodyPr/>
          <a:lstStyle/>
          <a:p>
            <a:r>
              <a:rPr lang="it-IT" dirty="0"/>
              <a:t>What benefits will I get from working hard? (1)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21DFF-1813-4F53-92FE-0969035F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5844"/>
          </a:xfrm>
        </p:spPr>
        <p:txBody>
          <a:bodyPr>
            <a:normAutofit/>
          </a:bodyPr>
          <a:lstStyle/>
          <a:p>
            <a:r>
              <a:rPr lang="it-IT" dirty="0"/>
              <a:t>Practice to </a:t>
            </a:r>
            <a:r>
              <a:rPr lang="it-IT" b="1" u="sng" dirty="0"/>
              <a:t>discipline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Begin involved in a significant project of mid-size</a:t>
            </a:r>
          </a:p>
          <a:p>
            <a:pPr lvl="1"/>
            <a:endParaRPr lang="it-IT" dirty="0"/>
          </a:p>
          <a:p>
            <a:r>
              <a:rPr lang="en-GB" b="1" u="sng" dirty="0"/>
              <a:t>Writing</a:t>
            </a:r>
            <a:r>
              <a:rPr lang="en-GB" dirty="0"/>
              <a:t> your (possibly) first research from scratch</a:t>
            </a:r>
          </a:p>
          <a:p>
            <a:pPr lvl="1"/>
            <a:r>
              <a:rPr lang="en-GB" dirty="0"/>
              <a:t>Maybe getting published</a:t>
            </a:r>
          </a:p>
          <a:p>
            <a:pPr lvl="1"/>
            <a:r>
              <a:rPr lang="en-GB" dirty="0"/>
              <a:t>Gain some visibility in your field</a:t>
            </a:r>
          </a:p>
          <a:p>
            <a:pPr lvl="1"/>
            <a:endParaRPr lang="en-GB" dirty="0"/>
          </a:p>
          <a:p>
            <a:r>
              <a:rPr lang="en-GB" dirty="0"/>
              <a:t>Learn how to </a:t>
            </a:r>
            <a:r>
              <a:rPr lang="en-GB" b="1" u="sng" dirty="0"/>
              <a:t>manage a large amount of literature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9021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F487-F011-4160-A910-E9766AB2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820" y="365125"/>
            <a:ext cx="10737980" cy="1325563"/>
          </a:xfrm>
        </p:spPr>
        <p:txBody>
          <a:bodyPr/>
          <a:lstStyle/>
          <a:p>
            <a:r>
              <a:rPr lang="it-IT" dirty="0"/>
              <a:t>What benefits will I get from working hard? (2)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02EE3-78FC-4527-BCDB-760A61831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u="sng" dirty="0"/>
              <a:t>Increase your CV </a:t>
            </a:r>
            <a:r>
              <a:rPr lang="en-GB" dirty="0"/>
              <a:t>with several lines</a:t>
            </a:r>
          </a:p>
          <a:p>
            <a:pPr lvl="1"/>
            <a:r>
              <a:rPr lang="en-GB" dirty="0"/>
              <a:t>More technologies</a:t>
            </a:r>
          </a:p>
          <a:p>
            <a:pPr lvl="1"/>
            <a:r>
              <a:rPr lang="en-GB" dirty="0"/>
              <a:t>Writing skills</a:t>
            </a:r>
          </a:p>
          <a:p>
            <a:pPr lvl="1"/>
            <a:r>
              <a:rPr lang="en-GB" dirty="0"/>
              <a:t>Research/analysis skills</a:t>
            </a:r>
          </a:p>
          <a:p>
            <a:pPr lvl="1"/>
            <a:endParaRPr lang="en-GB" dirty="0"/>
          </a:p>
          <a:p>
            <a:r>
              <a:rPr lang="en-GB" dirty="0"/>
              <a:t>Extend your </a:t>
            </a:r>
            <a:r>
              <a:rPr lang="en-GB" b="1" u="sng" dirty="0"/>
              <a:t>networking</a:t>
            </a:r>
          </a:p>
          <a:p>
            <a:pPr lvl="1"/>
            <a:r>
              <a:rPr lang="en-GB" dirty="0"/>
              <a:t>You will know more people and some will get in touch with you later</a:t>
            </a:r>
          </a:p>
          <a:p>
            <a:pPr lvl="1"/>
            <a:endParaRPr lang="en-GB" dirty="0"/>
          </a:p>
          <a:p>
            <a:r>
              <a:rPr lang="en-GB" dirty="0"/>
              <a:t>Valuable </a:t>
            </a:r>
            <a:r>
              <a:rPr lang="en-GB" b="1" u="sng" dirty="0"/>
              <a:t>memories</a:t>
            </a:r>
          </a:p>
          <a:p>
            <a:pPr lvl="1"/>
            <a:r>
              <a:rPr lang="en-GB" dirty="0"/>
              <a:t>Memories in life stay longer than any other tangible possession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5309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7E7A4F-65AA-47B4-98B9-FA842562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9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3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F3D7-DD5B-40CD-8002-5A6DC5A50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90843" cy="2387600"/>
          </a:xfrm>
        </p:spPr>
        <p:txBody>
          <a:bodyPr/>
          <a:lstStyle/>
          <a:p>
            <a:r>
              <a:rPr lang="en-GB" b="1" u="sng" dirty="0"/>
              <a:t>Part 4: Questions and Answers </a:t>
            </a:r>
          </a:p>
        </p:txBody>
      </p:sp>
    </p:spTree>
    <p:extLst>
      <p:ext uri="{BB962C8B-B14F-4D97-AF65-F5344CB8AC3E}">
        <p14:creationId xmlns:p14="http://schemas.microsoft.com/office/powerpoint/2010/main" val="71068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1187</Words>
  <Application>Microsoft Office PowerPoint</Application>
  <PresentationFormat>Widescreen</PresentationFormat>
  <Paragraphs>148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Google Sans</vt:lpstr>
      <vt:lpstr>quote-cjk-patch</vt:lpstr>
      <vt:lpstr>Times New Roman</vt:lpstr>
      <vt:lpstr>Office Theme</vt:lpstr>
      <vt:lpstr>Thesis Project</vt:lpstr>
      <vt:lpstr>Agenda</vt:lpstr>
      <vt:lpstr>What is a thesis?</vt:lpstr>
      <vt:lpstr>Etymology</vt:lpstr>
      <vt:lpstr>Part 1: Time Machine</vt:lpstr>
      <vt:lpstr>PowerPoint Presentation</vt:lpstr>
      <vt:lpstr>The seven classic liberal arts</vt:lpstr>
      <vt:lpstr>Trivium and quadrivium</vt:lpstr>
      <vt:lpstr>Middle-age: thesis</vt:lpstr>
      <vt:lpstr>PowerPoint Presentation</vt:lpstr>
      <vt:lpstr>From oral to written</vt:lpstr>
      <vt:lpstr>The modern thesis</vt:lpstr>
      <vt:lpstr>From Germany to USA</vt:lpstr>
      <vt:lpstr>20th and 21st centuries</vt:lpstr>
      <vt:lpstr>Academic degrees in Russia</vt:lpstr>
      <vt:lpstr>PowerPoint Presentation</vt:lpstr>
      <vt:lpstr>Part 2: Roll up your sleeves </vt:lpstr>
      <vt:lpstr>Step 1: find a supervisor</vt:lpstr>
      <vt:lpstr>Step 2: completing a research proposal</vt:lpstr>
      <vt:lpstr>Step 3: agreeing with a supervisor</vt:lpstr>
      <vt:lpstr>You must find a supervisor and  have a topic by : Bachelors: October 12th Masters: October 19th</vt:lpstr>
      <vt:lpstr>Step 4: supervision style</vt:lpstr>
      <vt:lpstr>Step 5: work hard for your first submission </vt:lpstr>
      <vt:lpstr>You must submit your  first two chapters by: Bachelors: November 1st Masters: December 10th</vt:lpstr>
      <vt:lpstr>Part 3: Motivation</vt:lpstr>
      <vt:lpstr>What benefits will I get from working hard? (1)</vt:lpstr>
      <vt:lpstr>What benefits will I get from working hard? (2)</vt:lpstr>
      <vt:lpstr>PowerPoint Presentation</vt:lpstr>
      <vt:lpstr>Part 4: Questions and Answers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Project Workshop</dc:title>
  <dc:creator>Manuel Mazzara</dc:creator>
  <cp:lastModifiedBy>Мануэль Маццара</cp:lastModifiedBy>
  <cp:revision>49</cp:revision>
  <dcterms:created xsi:type="dcterms:W3CDTF">2025-09-25T11:43:13Z</dcterms:created>
  <dcterms:modified xsi:type="dcterms:W3CDTF">2026-09-25T09:35:23Z</dcterms:modified>
</cp:coreProperties>
</file>